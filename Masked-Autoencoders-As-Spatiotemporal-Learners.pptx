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22"/>
  </p:notesMasterIdLst>
  <p:sldIdLst>
    <p:sldId id="256" r:id="rId2"/>
    <p:sldId id="257" r:id="rId3"/>
    <p:sldId id="277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1" r:id="rId16"/>
    <p:sldId id="292" r:id="rId17"/>
    <p:sldId id="293" r:id="rId18"/>
    <p:sldId id="294" r:id="rId19"/>
    <p:sldId id="295" r:id="rId20"/>
    <p:sldId id="296" r:id="rId2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Orta Stil 2 - Vurgu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Orta Stil 2 - Vurgu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CAF9ED-07DC-4A11-8D7F-57B35C25682E}" styleName="Orta Stil 1 - Vurgu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Orta Stil 2 - Vurg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Orta Stil 4 - Vurgu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3296810-A885-4BE3-A3E7-6D5BEEA58F35}" styleName="Orta Stil 2 - Vurgu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2" d="100"/>
          <a:sy n="92" d="100"/>
        </p:scale>
        <p:origin x="64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26701C-62DB-40F3-B19E-AE7968241E57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037F6-A9B9-409F-911A-AF4582ACD54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2557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5037F6-A9B9-409F-911A-AF4582ACD54D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502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38138-6E7F-4841-876C-7F71D22643B2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83212-D0A2-4D7F-9978-D2B40A40FB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47593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38138-6E7F-4841-876C-7F71D22643B2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83212-D0A2-4D7F-9978-D2B40A40FB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17618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38138-6E7F-4841-876C-7F71D22643B2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83212-D0A2-4D7F-9978-D2B40A40FB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006734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38138-6E7F-4841-876C-7F71D22643B2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83212-D0A2-4D7F-9978-D2B40A40FB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67584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38138-6E7F-4841-876C-7F71D22643B2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83212-D0A2-4D7F-9978-D2B40A40FB23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6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38138-6E7F-4841-876C-7F71D22643B2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83212-D0A2-4D7F-9978-D2B40A40FB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7649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38138-6E7F-4841-876C-7F71D22643B2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83212-D0A2-4D7F-9978-D2B40A40FB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29285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38138-6E7F-4841-876C-7F71D22643B2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tr-T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83212-D0A2-4D7F-9978-D2B40A40FB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03616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A038138-6E7F-4841-876C-7F71D22643B2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tr-T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83212-D0A2-4D7F-9978-D2B40A40FB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55746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38138-6E7F-4841-876C-7F71D22643B2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83212-D0A2-4D7F-9978-D2B40A40FB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22217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38138-6E7F-4841-876C-7F71D22643B2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83212-D0A2-4D7F-9978-D2B40A40FB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0757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A038138-6E7F-4841-876C-7F71D22643B2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42D83212-D0A2-4D7F-9978-D2B40A40FB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8106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600200" y="2130435"/>
            <a:ext cx="8991600" cy="1645920"/>
          </a:xfrm>
        </p:spPr>
        <p:txBody>
          <a:bodyPr/>
          <a:lstStyle/>
          <a:p>
            <a:r>
              <a:rPr lang="en-US" dirty="0"/>
              <a:t>Masked </a:t>
            </a:r>
            <a:r>
              <a:rPr lang="en-US" dirty="0" err="1"/>
              <a:t>Autoencoders</a:t>
            </a:r>
            <a:r>
              <a:rPr lang="en-US" dirty="0"/>
              <a:t> As Spatiotemporal Learners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2078424" y="4213997"/>
            <a:ext cx="8035151" cy="1847365"/>
          </a:xfrm>
        </p:spPr>
        <p:txBody>
          <a:bodyPr>
            <a:normAutofit/>
          </a:bodyPr>
          <a:lstStyle/>
          <a:p>
            <a:pPr algn="l"/>
            <a:r>
              <a:rPr lang="tr-TR" sz="2400" b="1" dirty="0" smtClean="0"/>
              <a:t>AUTHORS: </a:t>
            </a:r>
          </a:p>
          <a:p>
            <a:pPr algn="l"/>
            <a:r>
              <a:rPr lang="tr-TR" sz="2400" dirty="0" err="1" smtClean="0"/>
              <a:t>Christoph</a:t>
            </a:r>
            <a:r>
              <a:rPr lang="tr-TR" sz="2400" dirty="0" smtClean="0"/>
              <a:t> </a:t>
            </a:r>
            <a:r>
              <a:rPr lang="tr-TR" sz="2400" dirty="0" err="1" smtClean="0"/>
              <a:t>Feichtenhofer</a:t>
            </a:r>
            <a:r>
              <a:rPr lang="tr-TR" sz="2400" dirty="0" smtClean="0"/>
              <a:t>, </a:t>
            </a:r>
            <a:r>
              <a:rPr lang="tr-TR" sz="2400" dirty="0" err="1"/>
              <a:t>Haoqi</a:t>
            </a:r>
            <a:r>
              <a:rPr lang="tr-TR" sz="2400" dirty="0"/>
              <a:t> </a:t>
            </a:r>
            <a:r>
              <a:rPr lang="tr-TR" sz="2400" dirty="0" smtClean="0"/>
              <a:t>Fan, </a:t>
            </a:r>
            <a:r>
              <a:rPr lang="tr-TR" sz="2400" dirty="0" err="1"/>
              <a:t>Yanghao</a:t>
            </a:r>
            <a:r>
              <a:rPr lang="tr-TR" sz="2400" dirty="0"/>
              <a:t> </a:t>
            </a:r>
            <a:r>
              <a:rPr lang="tr-TR" sz="2400" dirty="0" err="1"/>
              <a:t>Li</a:t>
            </a:r>
            <a:r>
              <a:rPr lang="tr-TR" sz="2400" dirty="0"/>
              <a:t> </a:t>
            </a:r>
            <a:r>
              <a:rPr lang="tr-TR" sz="2400" dirty="0" smtClean="0"/>
              <a:t>,</a:t>
            </a:r>
            <a:r>
              <a:rPr lang="tr-TR" sz="2400" dirty="0" err="1" smtClean="0"/>
              <a:t>Kaiming</a:t>
            </a:r>
            <a:r>
              <a:rPr lang="tr-TR" sz="2400" dirty="0" smtClean="0"/>
              <a:t> He</a:t>
            </a:r>
          </a:p>
          <a:p>
            <a:pPr algn="l"/>
            <a:r>
              <a:rPr lang="tr-TR" sz="2400" dirty="0" err="1" smtClean="0"/>
              <a:t>NeurIPS</a:t>
            </a:r>
            <a:r>
              <a:rPr lang="tr-TR" sz="2400" dirty="0" smtClean="0"/>
              <a:t> </a:t>
            </a:r>
            <a:r>
              <a:rPr lang="tr-TR" sz="2400" dirty="0"/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1596976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Sunum içeriği</a:t>
            </a:r>
            <a:endParaRPr lang="tr-TR" dirty="0"/>
          </a:p>
        </p:txBody>
      </p:sp>
      <p:graphicFrame>
        <p:nvGraphicFramePr>
          <p:cNvPr id="7" name="İçerik Yer Tutucusu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0498963"/>
              </p:ext>
            </p:extLst>
          </p:nvPr>
        </p:nvGraphicFramePr>
        <p:xfrm>
          <a:off x="2231136" y="2638425"/>
          <a:ext cx="7731126" cy="3772593"/>
        </p:xfrm>
        <a:graphic>
          <a:graphicData uri="http://schemas.openxmlformats.org/drawingml/2006/table">
            <a:tbl>
              <a:tblPr bandRow="1">
                <a:tableStyleId>{8A107856-5554-42FB-B03E-39F5DBC370BA}</a:tableStyleId>
              </a:tblPr>
              <a:tblGrid>
                <a:gridCol w="1177780">
                  <a:extLst>
                    <a:ext uri="{9D8B030D-6E8A-4147-A177-3AD203B41FA5}">
                      <a16:colId xmlns:a16="http://schemas.microsoft.com/office/drawing/2014/main" val="1090575630"/>
                    </a:ext>
                  </a:extLst>
                </a:gridCol>
                <a:gridCol w="6553346">
                  <a:extLst>
                    <a:ext uri="{9D8B030D-6E8A-4147-A177-3AD203B41FA5}">
                      <a16:colId xmlns:a16="http://schemas.microsoft.com/office/drawing/2014/main" val="1058183153"/>
                    </a:ext>
                  </a:extLst>
                </a:gridCol>
              </a:tblGrid>
              <a:tr h="735157"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/>
                        <a:t>1</a:t>
                      </a:r>
                      <a:endParaRPr lang="tr-T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Motivasyon</a:t>
                      </a:r>
                    </a:p>
                    <a:p>
                      <a:r>
                        <a:rPr lang="tr-TR" dirty="0" smtClean="0"/>
                        <a:t>Problem</a:t>
                      </a:r>
                      <a:r>
                        <a:rPr lang="tr-TR" baseline="0" dirty="0" smtClean="0"/>
                        <a:t> İfadesi</a:t>
                      </a:r>
                    </a:p>
                    <a:p>
                      <a:r>
                        <a:rPr lang="tr-TR" baseline="0" dirty="0" smtClean="0"/>
                        <a:t>İlgili Çalışmalar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05509"/>
                  </a:ext>
                </a:extLst>
              </a:tr>
              <a:tr h="755073"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/>
                        <a:t>2</a:t>
                      </a:r>
                      <a:endParaRPr lang="tr-T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Teknik</a:t>
                      </a:r>
                      <a:r>
                        <a:rPr lang="tr-TR" baseline="0" dirty="0" smtClean="0"/>
                        <a:t> Yaklaşım</a:t>
                      </a:r>
                    </a:p>
                    <a:p>
                      <a:r>
                        <a:rPr lang="tr-TR" baseline="0" dirty="0" smtClean="0"/>
                        <a:t>Görevler ve Veri Kümeleri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688364"/>
                  </a:ext>
                </a:extLst>
              </a:tr>
              <a:tr h="768927"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/>
                        <a:t>3</a:t>
                      </a:r>
                      <a:endParaRPr lang="tr-T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Deneysel</a:t>
                      </a:r>
                      <a:r>
                        <a:rPr lang="tr-TR" baseline="0" dirty="0" smtClean="0"/>
                        <a:t> Kurulum</a:t>
                      </a:r>
                    </a:p>
                    <a:p>
                      <a:r>
                        <a:rPr lang="tr-TR" baseline="0" dirty="0" smtClean="0"/>
                        <a:t>Sonuçları </a:t>
                      </a:r>
                    </a:p>
                    <a:p>
                      <a:r>
                        <a:rPr lang="tr-TR" baseline="0" dirty="0" smtClean="0"/>
                        <a:t>Temel Gözlemler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847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/>
                        <a:t>4</a:t>
                      </a:r>
                      <a:endParaRPr lang="tr-T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Makalenin Güçlü Yönleri</a:t>
                      </a:r>
                    </a:p>
                    <a:p>
                      <a:r>
                        <a:rPr lang="tr-TR" dirty="0" smtClean="0"/>
                        <a:t>Makalenin Zayıf  Yönleri</a:t>
                      </a:r>
                    </a:p>
                    <a:p>
                      <a:r>
                        <a:rPr lang="tr-TR" dirty="0" smtClean="0"/>
                        <a:t>Sonuç</a:t>
                      </a:r>
                      <a:r>
                        <a:rPr lang="tr-TR" baseline="0" dirty="0" smtClean="0"/>
                        <a:t> &amp; Tartışma</a:t>
                      </a:r>
                    </a:p>
                    <a:p>
                      <a:r>
                        <a:rPr lang="tr-TR" baseline="0" dirty="0" smtClean="0"/>
                        <a:t>Referanslar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706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2183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motivasyon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Görüntü ve video modellerinde </a:t>
            </a:r>
            <a:r>
              <a:rPr lang="tr-TR" dirty="0" err="1"/>
              <a:t>Transformer</a:t>
            </a:r>
            <a:r>
              <a:rPr lang="tr-TR" dirty="0"/>
              <a:t> mimarileri yaygınlaştı</a:t>
            </a:r>
            <a:r>
              <a:rPr lang="tr-TR" dirty="0" smtClean="0"/>
              <a:t>.</a:t>
            </a:r>
          </a:p>
          <a:p>
            <a:r>
              <a:rPr lang="tr-TR" dirty="0" smtClean="0"/>
              <a:t>Ancak </a:t>
            </a:r>
            <a:r>
              <a:rPr lang="tr-TR" dirty="0"/>
              <a:t>video, görüntüye göre çok daha yüksek boyutlu ve işlenmesi pahalı</a:t>
            </a:r>
            <a:r>
              <a:rPr lang="tr-TR" dirty="0" smtClean="0"/>
              <a:t>.</a:t>
            </a:r>
          </a:p>
          <a:p>
            <a:r>
              <a:rPr lang="tr-TR" dirty="0" err="1" smtClean="0"/>
              <a:t>Masked</a:t>
            </a:r>
            <a:r>
              <a:rPr lang="tr-TR" dirty="0" smtClean="0"/>
              <a:t> </a:t>
            </a:r>
            <a:r>
              <a:rPr lang="tr-TR" dirty="0" err="1"/>
              <a:t>Autoencoder</a:t>
            </a:r>
            <a:r>
              <a:rPr lang="tr-TR" dirty="0"/>
              <a:t> (MAE), görüntüde çok başarılı </a:t>
            </a:r>
            <a:r>
              <a:rPr lang="tr-TR" dirty="0" smtClean="0"/>
              <a:t>oldu.</a:t>
            </a:r>
          </a:p>
          <a:p>
            <a:r>
              <a:rPr lang="tr-TR" dirty="0" smtClean="0"/>
              <a:t>Bu </a:t>
            </a:r>
            <a:r>
              <a:rPr lang="tr-TR" dirty="0"/>
              <a:t>çalışma</a:t>
            </a:r>
            <a:r>
              <a:rPr lang="tr-TR" dirty="0" smtClean="0"/>
              <a:t>:</a:t>
            </a:r>
          </a:p>
          <a:p>
            <a:r>
              <a:rPr lang="tr-TR" i="1" dirty="0" smtClean="0"/>
              <a:t>“</a:t>
            </a:r>
            <a:r>
              <a:rPr lang="tr-TR" i="1" dirty="0"/>
              <a:t>MAE video üzerinde de minimum alan bilgisi ile çalışabilir mi?”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352170" y="2568771"/>
            <a:ext cx="4270247" cy="36404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dirty="0"/>
              <a:t>Amaç:</a:t>
            </a:r>
          </a:p>
          <a:p>
            <a:pPr lvl="1"/>
            <a:r>
              <a:rPr lang="tr-TR" sz="1800" dirty="0" err="1"/>
              <a:t>Spatiotemporal</a:t>
            </a:r>
            <a:r>
              <a:rPr lang="tr-TR" sz="1800" dirty="0"/>
              <a:t> (uzay-zaman) yapıya özel karmaşık mimariler kullanmadan,</a:t>
            </a:r>
          </a:p>
          <a:p>
            <a:pPr lvl="1"/>
            <a:r>
              <a:rPr lang="tr-TR" sz="1800" dirty="0"/>
              <a:t>Yalnızca </a:t>
            </a:r>
            <a:r>
              <a:rPr lang="tr-TR" sz="1800" dirty="0" err="1"/>
              <a:t>random</a:t>
            </a:r>
            <a:r>
              <a:rPr lang="tr-TR" sz="1800" dirty="0"/>
              <a:t> </a:t>
            </a:r>
            <a:r>
              <a:rPr lang="tr-TR" sz="1800" dirty="0" err="1"/>
              <a:t>patch</a:t>
            </a:r>
            <a:r>
              <a:rPr lang="tr-TR" sz="1800" dirty="0"/>
              <a:t> </a:t>
            </a:r>
            <a:r>
              <a:rPr lang="tr-TR" sz="1800" dirty="0" err="1"/>
              <a:t>maskleme</a:t>
            </a:r>
            <a:r>
              <a:rPr lang="tr-TR" sz="1800" dirty="0"/>
              <a:t> ile güçlü video temsil öğrenimi yapmak.</a:t>
            </a:r>
          </a:p>
          <a:p>
            <a:r>
              <a:rPr lang="tr-TR" dirty="0"/>
              <a:t>İyileştirilebilir </a:t>
            </a:r>
            <a:r>
              <a:rPr lang="tr-TR" dirty="0" smtClean="0"/>
              <a:t>kısım:</a:t>
            </a:r>
          </a:p>
          <a:p>
            <a:r>
              <a:rPr lang="tr-TR" dirty="0" smtClean="0"/>
              <a:t> </a:t>
            </a:r>
            <a:r>
              <a:rPr lang="tr-TR" dirty="0" smtClean="0"/>
              <a:t>Çok </a:t>
            </a:r>
            <a:r>
              <a:rPr lang="tr-TR" dirty="0"/>
              <a:t>büyük hesaplama maliyeti</a:t>
            </a:r>
          </a:p>
          <a:p>
            <a:r>
              <a:rPr lang="tr-TR" dirty="0"/>
              <a:t>Çok fazla etki alanı bilgisi gerektirmesi (</a:t>
            </a:r>
            <a:r>
              <a:rPr lang="tr-TR" dirty="0" err="1"/>
              <a:t>inductive</a:t>
            </a:r>
            <a:r>
              <a:rPr lang="tr-TR" dirty="0"/>
              <a:t> </a:t>
            </a:r>
            <a:r>
              <a:rPr lang="tr-TR" dirty="0" err="1"/>
              <a:t>bias</a:t>
            </a:r>
            <a:r>
              <a:rPr lang="tr-TR" dirty="0"/>
              <a:t>)</a:t>
            </a:r>
          </a:p>
          <a:p>
            <a:r>
              <a:rPr lang="tr-TR" dirty="0" err="1"/>
              <a:t>Video’da</a:t>
            </a:r>
            <a:r>
              <a:rPr lang="tr-TR" dirty="0"/>
              <a:t> </a:t>
            </a:r>
            <a:r>
              <a:rPr lang="tr-TR" dirty="0" err="1"/>
              <a:t>temporal</a:t>
            </a:r>
            <a:r>
              <a:rPr lang="tr-TR" dirty="0"/>
              <a:t> tutarlılığın nasıl kullanılacağı sorunu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40398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Problem ifadesi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Soru: Video için </a:t>
            </a:r>
            <a:r>
              <a:rPr lang="tr-TR" dirty="0" smtClean="0"/>
              <a:t>uzaysal-zamansal </a:t>
            </a:r>
            <a:r>
              <a:rPr lang="tr-TR" dirty="0"/>
              <a:t>temsiller, minimum domain bilgisi ile öğrenilebilir mi</a:t>
            </a:r>
            <a:r>
              <a:rPr lang="tr-TR" dirty="0" smtClean="0"/>
              <a:t>?</a:t>
            </a:r>
          </a:p>
          <a:p>
            <a:r>
              <a:rPr lang="tr-TR" dirty="0" smtClean="0"/>
              <a:t>Video </a:t>
            </a:r>
            <a:r>
              <a:rPr lang="tr-TR" dirty="0"/>
              <a:t>içeriği zaman içinde oldukça tekrarlı → yüksek bilgi fazlalığı (</a:t>
            </a:r>
            <a:r>
              <a:rPr lang="tr-TR" dirty="0" err="1"/>
              <a:t>redundancy</a:t>
            </a:r>
            <a:r>
              <a:rPr lang="tr-TR" dirty="0" smtClean="0"/>
              <a:t>).</a:t>
            </a:r>
          </a:p>
          <a:p>
            <a:r>
              <a:rPr lang="tr-TR" dirty="0" smtClean="0"/>
              <a:t>Bu </a:t>
            </a:r>
            <a:r>
              <a:rPr lang="tr-TR" dirty="0"/>
              <a:t>nedenle</a:t>
            </a:r>
            <a:r>
              <a:rPr lang="tr-TR" dirty="0" smtClean="0"/>
              <a:t>,</a:t>
            </a:r>
          </a:p>
          <a:p>
            <a:r>
              <a:rPr lang="tr-TR" dirty="0" smtClean="0"/>
              <a:t>“</a:t>
            </a:r>
            <a:r>
              <a:rPr lang="tr-TR" dirty="0"/>
              <a:t>video için optimal mask oranı ne olmalı</a:t>
            </a:r>
            <a:r>
              <a:rPr lang="tr-TR" dirty="0" smtClean="0"/>
              <a:t>?”</a:t>
            </a:r>
          </a:p>
          <a:p>
            <a:r>
              <a:rPr lang="tr-TR" dirty="0" smtClean="0"/>
              <a:t>2D </a:t>
            </a:r>
            <a:r>
              <a:rPr lang="tr-TR" dirty="0" err="1"/>
              <a:t>MAE’nin</a:t>
            </a:r>
            <a:r>
              <a:rPr lang="tr-TR" dirty="0"/>
              <a:t> 75% mask oranının video için yeterli olmadığı düşünülüyor.</a:t>
            </a:r>
          </a:p>
        </p:txBody>
      </p:sp>
    </p:spTree>
    <p:extLst>
      <p:ext uri="{BB962C8B-B14F-4D97-AF65-F5344CB8AC3E}">
        <p14:creationId xmlns:p14="http://schemas.microsoft.com/office/powerpoint/2010/main" val="569252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İlgili çalışmalar</a:t>
            </a:r>
            <a:endParaRPr lang="tr-TR" dirty="0"/>
          </a:p>
        </p:txBody>
      </p:sp>
      <p:graphicFrame>
        <p:nvGraphicFramePr>
          <p:cNvPr id="4" name="İçerik Yer Tutucus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254742"/>
              </p:ext>
            </p:extLst>
          </p:nvPr>
        </p:nvGraphicFramePr>
        <p:xfrm>
          <a:off x="2231136" y="3155259"/>
          <a:ext cx="7731126" cy="182880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281689">
                  <a:extLst>
                    <a:ext uri="{9D8B030D-6E8A-4147-A177-3AD203B41FA5}">
                      <a16:colId xmlns:a16="http://schemas.microsoft.com/office/drawing/2014/main" val="4259930704"/>
                    </a:ext>
                  </a:extLst>
                </a:gridCol>
                <a:gridCol w="6449437">
                  <a:extLst>
                    <a:ext uri="{9D8B030D-6E8A-4147-A177-3AD203B41FA5}">
                      <a16:colId xmlns:a16="http://schemas.microsoft.com/office/drawing/2014/main" val="1011877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</a:t>
                      </a:r>
                    </a:p>
                    <a:p>
                      <a:pPr algn="ctr"/>
                      <a:endParaRPr lang="tr-TR" dirty="0" smtClean="0"/>
                    </a:p>
                    <a:p>
                      <a:pPr algn="ctr"/>
                      <a:endParaRPr lang="tr-T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 smtClean="0"/>
                        <a:t>Denoising</a:t>
                      </a:r>
                      <a:r>
                        <a:rPr lang="tr-TR" dirty="0" smtClean="0"/>
                        <a:t> / </a:t>
                      </a:r>
                      <a:r>
                        <a:rPr lang="tr-TR" dirty="0" err="1" smtClean="0"/>
                        <a:t>Masked</a:t>
                      </a:r>
                      <a:r>
                        <a:rPr lang="tr-TR" dirty="0" smtClean="0"/>
                        <a:t> </a:t>
                      </a:r>
                      <a:r>
                        <a:rPr lang="tr-TR" dirty="0" err="1" smtClean="0"/>
                        <a:t>Autoencoders</a:t>
                      </a:r>
                      <a:r>
                        <a:rPr lang="tr-TR" dirty="0" smtClean="0"/>
                        <a:t> (DAE, MAE)</a:t>
                      </a:r>
                    </a:p>
                    <a:p>
                      <a:r>
                        <a:rPr lang="tr-TR" dirty="0" smtClean="0"/>
                        <a:t>(Gürültü Giderme / Maskelenmiş </a:t>
                      </a:r>
                      <a:r>
                        <a:rPr lang="tr-TR" dirty="0" err="1" smtClean="0"/>
                        <a:t>Otokodlayıcılar</a:t>
                      </a:r>
                      <a:r>
                        <a:rPr lang="tr-TR" dirty="0" smtClean="0"/>
                        <a:t> (DAE, MAE))</a:t>
                      </a:r>
                    </a:p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938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2</a:t>
                      </a:r>
                    </a:p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Self-</a:t>
                      </a:r>
                      <a:r>
                        <a:rPr lang="tr-TR" dirty="0" err="1" smtClean="0"/>
                        <a:t>supervised</a:t>
                      </a:r>
                      <a:r>
                        <a:rPr lang="tr-TR" dirty="0" smtClean="0"/>
                        <a:t> Video Learning</a:t>
                      </a:r>
                    </a:p>
                    <a:p>
                      <a:r>
                        <a:rPr lang="tr-TR" dirty="0" smtClean="0"/>
                        <a:t>(</a:t>
                      </a:r>
                      <a:r>
                        <a:rPr lang="da-DK" dirty="0" smtClean="0"/>
                        <a:t>Kendi Kendine Denetimli Video Öğrenmesi</a:t>
                      </a:r>
                      <a:r>
                        <a:rPr lang="tr-TR" dirty="0" smtClean="0"/>
                        <a:t>)</a:t>
                      </a:r>
                    </a:p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776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1986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1.DenoISIng </a:t>
            </a:r>
            <a:r>
              <a:rPr lang="tr-TR" dirty="0" err="1"/>
              <a:t>Autoencoders</a:t>
            </a:r>
            <a:r>
              <a:rPr lang="tr-TR" dirty="0"/>
              <a:t> (DAE) ve </a:t>
            </a:r>
            <a:r>
              <a:rPr lang="tr-TR" dirty="0" err="1"/>
              <a:t>Masked</a:t>
            </a:r>
            <a:r>
              <a:rPr lang="tr-TR" dirty="0"/>
              <a:t> </a:t>
            </a:r>
            <a:r>
              <a:rPr lang="tr-TR" dirty="0" err="1" smtClean="0"/>
              <a:t>AutoencodIng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DAE (gürültü giderici oto-</a:t>
            </a:r>
            <a:r>
              <a:rPr lang="tr-TR" dirty="0" err="1"/>
              <a:t>kodlayıcılar</a:t>
            </a:r>
            <a:r>
              <a:rPr lang="tr-TR" dirty="0"/>
              <a:t>) genel bir temsil öğrenme metodolojisidir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BERT </a:t>
            </a:r>
            <a:r>
              <a:rPr lang="tr-TR" dirty="0"/>
              <a:t>(dil) ve MAE (görüntü) gibi önceki çalışmalar, maskelemeye dayalı oto-kodlama yöntemlerinin etkinliğini kanıtlamıştır</a:t>
            </a:r>
            <a:r>
              <a:rPr lang="tr-TR" dirty="0" smtClean="0"/>
              <a:t>.</a:t>
            </a:r>
          </a:p>
          <a:p>
            <a:r>
              <a:rPr lang="tr-TR" dirty="0" smtClean="0"/>
              <a:t>Bu </a:t>
            </a:r>
            <a:r>
              <a:rPr lang="tr-TR" dirty="0"/>
              <a:t>çalışma, görüntü </a:t>
            </a:r>
            <a:r>
              <a:rPr lang="tr-TR" dirty="0" err="1"/>
              <a:t>MAE'sini</a:t>
            </a:r>
            <a:r>
              <a:rPr lang="tr-TR" dirty="0"/>
              <a:t> video alanına minimal </a:t>
            </a:r>
            <a:r>
              <a:rPr lang="tr-TR" dirty="0" err="1"/>
              <a:t>endüktif</a:t>
            </a:r>
            <a:r>
              <a:rPr lang="tr-TR" dirty="0"/>
              <a:t> önyargı ile basitçe genişletir.</a:t>
            </a:r>
          </a:p>
        </p:txBody>
      </p:sp>
    </p:spTree>
    <p:extLst>
      <p:ext uri="{BB962C8B-B14F-4D97-AF65-F5344CB8AC3E}">
        <p14:creationId xmlns:p14="http://schemas.microsoft.com/office/powerpoint/2010/main" val="2631557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2.</a:t>
            </a:r>
            <a:r>
              <a:rPr lang="tr-TR" dirty="0"/>
              <a:t> </a:t>
            </a:r>
            <a:r>
              <a:rPr lang="tr-TR" dirty="0" smtClean="0"/>
              <a:t>Self-</a:t>
            </a:r>
            <a:r>
              <a:rPr lang="tr-TR" dirty="0" err="1" smtClean="0"/>
              <a:t>supervIsed</a:t>
            </a:r>
            <a:r>
              <a:rPr lang="tr-TR" dirty="0" smtClean="0"/>
              <a:t> </a:t>
            </a:r>
            <a:r>
              <a:rPr lang="tr-TR" dirty="0" err="1" smtClean="0"/>
              <a:t>VIdeo</a:t>
            </a:r>
            <a:r>
              <a:rPr lang="tr-TR" dirty="0" smtClean="0"/>
              <a:t> </a:t>
            </a:r>
            <a:r>
              <a:rPr lang="tr-TR" dirty="0" err="1" smtClean="0"/>
              <a:t>LearnIng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Önceki video çalışmaları genellikle zamansal boyuta odaklanmıştır; örneğin, </a:t>
            </a:r>
            <a:r>
              <a:rPr lang="tr-TR" dirty="0" err="1"/>
              <a:t>temporal</a:t>
            </a:r>
            <a:r>
              <a:rPr lang="tr-TR" dirty="0"/>
              <a:t> </a:t>
            </a:r>
            <a:r>
              <a:rPr lang="tr-TR" dirty="0" err="1"/>
              <a:t>coherence</a:t>
            </a:r>
            <a:r>
              <a:rPr lang="tr-TR" dirty="0"/>
              <a:t> (yavaşlık), geleceği tahmin etme veya zamansal sıralama gibi alan bilgisine dayalı görevler kullanmıştır</a:t>
            </a:r>
            <a:r>
              <a:rPr lang="tr-TR" dirty="0" smtClean="0"/>
              <a:t>.</a:t>
            </a:r>
          </a:p>
          <a:p>
            <a:r>
              <a:rPr lang="tr-TR" dirty="0" smtClean="0"/>
              <a:t>Bazı </a:t>
            </a:r>
            <a:r>
              <a:rPr lang="tr-TR" dirty="0"/>
              <a:t>yaklaşımlar pikseller yerine </a:t>
            </a:r>
            <a:r>
              <a:rPr lang="tr-TR" dirty="0" err="1"/>
              <a:t>tokenization</a:t>
            </a:r>
            <a:r>
              <a:rPr lang="tr-TR" dirty="0"/>
              <a:t> kullanarak tahmin hedeflerini (örneğin </a:t>
            </a:r>
            <a:r>
              <a:rPr lang="tr-TR" dirty="0" err="1"/>
              <a:t>dVAE</a:t>
            </a:r>
            <a:r>
              <a:rPr lang="tr-TR" dirty="0"/>
              <a:t> veya HOG) kullanmıştır. Bu makale ise, bu tür ek alan bilgisi gerektirmeyen piksel tabanlı rekonstrüksiyon kullanır ve bu yöntemlerden ayrılır.</a:t>
            </a:r>
          </a:p>
        </p:txBody>
      </p:sp>
    </p:spTree>
    <p:extLst>
      <p:ext uri="{BB962C8B-B14F-4D97-AF65-F5344CB8AC3E}">
        <p14:creationId xmlns:p14="http://schemas.microsoft.com/office/powerpoint/2010/main" val="2289286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TEKNİK YAKLAŞIM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tr-TR" dirty="0" smtClean="0"/>
              <a:t>Bu makalede </a:t>
            </a:r>
            <a:r>
              <a:rPr lang="tr-TR" dirty="0"/>
              <a:t>temel fikir rastgele bir şekilde uzay-zaman yamalarının (%90'a kadar) maskelenmesi ve bir oto-kodlayıcı ile bu maskelenmiş piksellerin yeniden yapılandırılmasıdır</a:t>
            </a:r>
            <a:r>
              <a:rPr lang="tr-TR" dirty="0" smtClean="0"/>
              <a:t>.</a:t>
            </a:r>
            <a:endParaRPr lang="tr-TR" dirty="0"/>
          </a:p>
          <a:p>
            <a:endParaRPr lang="tr-TR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tr-TR" b="1" dirty="0" smtClean="0"/>
              <a:t>1. </a:t>
            </a:r>
            <a:r>
              <a:rPr lang="tr-TR" b="1" dirty="0" err="1" smtClean="0"/>
              <a:t>Patch</a:t>
            </a:r>
            <a:r>
              <a:rPr lang="tr-TR" b="1" dirty="0" smtClean="0"/>
              <a:t> </a:t>
            </a:r>
            <a:r>
              <a:rPr lang="tr-TR" b="1" dirty="0" err="1" smtClean="0"/>
              <a:t>Embedding</a:t>
            </a:r>
            <a:endParaRPr lang="tr-TR" b="1" dirty="0"/>
          </a:p>
          <a:p>
            <a:r>
              <a:rPr lang="tr-TR" dirty="0"/>
              <a:t>Video klip, uzay-zamanda çakışmayan yamaların düzenli bir ızgarasına </a:t>
            </a:r>
            <a:r>
              <a:rPr lang="tr-TR" dirty="0" smtClean="0"/>
              <a:t>bölünür.(örneğin 2x16x16 boyutlu yamalar).</a:t>
            </a:r>
          </a:p>
          <a:p>
            <a:r>
              <a:rPr lang="tr-TR" dirty="0"/>
              <a:t>Yamalar düzleştirilir ve doğrusal </a:t>
            </a:r>
            <a:r>
              <a:rPr lang="tr-TR" dirty="0" err="1"/>
              <a:t>izdüşümle</a:t>
            </a:r>
            <a:r>
              <a:rPr lang="tr-TR" dirty="0"/>
              <a:t> gömülür</a:t>
            </a:r>
            <a:r>
              <a:rPr lang="tr-TR" dirty="0" smtClean="0"/>
              <a:t>.</a:t>
            </a:r>
          </a:p>
          <a:p>
            <a:r>
              <a:rPr lang="tr-TR" dirty="0"/>
              <a:t>Uzay-zaman </a:t>
            </a:r>
            <a:r>
              <a:rPr lang="tr-TR" dirty="0" err="1"/>
              <a:t>konumsal</a:t>
            </a:r>
            <a:r>
              <a:rPr lang="tr-TR" dirty="0"/>
              <a:t> gömmeler (</a:t>
            </a:r>
            <a:r>
              <a:rPr lang="tr-TR" dirty="0" err="1"/>
              <a:t>positional</a:t>
            </a:r>
            <a:r>
              <a:rPr lang="tr-TR" dirty="0"/>
              <a:t> </a:t>
            </a:r>
            <a:r>
              <a:rPr lang="tr-TR" dirty="0" err="1"/>
              <a:t>embeddings</a:t>
            </a:r>
            <a:r>
              <a:rPr lang="tr-TR" dirty="0"/>
              <a:t>), uzamsal ve zamansal gömmelerin toplamı olarak </a:t>
            </a:r>
            <a:r>
              <a:rPr lang="tr-TR" b="1" dirty="0"/>
              <a:t>ayrılabilir</a:t>
            </a:r>
            <a:r>
              <a:rPr lang="tr-TR" dirty="0"/>
              <a:t> bir şekilde eklenir.</a:t>
            </a:r>
          </a:p>
        </p:txBody>
      </p:sp>
      <p:sp>
        <p:nvSpPr>
          <p:cNvPr id="6" name="Dikdörtgen 5"/>
          <p:cNvSpPr/>
          <p:nvPr/>
        </p:nvSpPr>
        <p:spPr>
          <a:xfrm>
            <a:off x="1581912" y="4622953"/>
            <a:ext cx="42717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600" b="1" dirty="0"/>
              <a:t>Not:</a:t>
            </a:r>
            <a:r>
              <a:rPr lang="tr-TR" sz="1600" dirty="0"/>
              <a:t> Yama ve </a:t>
            </a:r>
            <a:r>
              <a:rPr lang="tr-TR" sz="1600" dirty="0" err="1"/>
              <a:t>konumsal</a:t>
            </a:r>
            <a:r>
              <a:rPr lang="tr-TR" sz="1600" dirty="0"/>
              <a:t> gömme, </a:t>
            </a:r>
            <a:r>
              <a:rPr lang="tr-TR" sz="1600" b="1" dirty="0"/>
              <a:t>tek uzay-zaman farkındalığına sahip adımdır</a:t>
            </a:r>
            <a:r>
              <a:rPr lang="tr-TR" sz="1600" dirty="0"/>
              <a:t>. Diğer tüm bileşenler uzay-zaman yapısından bağımsızdır.</a:t>
            </a:r>
          </a:p>
        </p:txBody>
      </p:sp>
      <p:cxnSp>
        <p:nvCxnSpPr>
          <p:cNvPr id="11" name="Eğri Bağlayıcı 10"/>
          <p:cNvCxnSpPr>
            <a:stCxn id="4" idx="1"/>
            <a:endCxn id="6" idx="3"/>
          </p:cNvCxnSpPr>
          <p:nvPr/>
        </p:nvCxnSpPr>
        <p:spPr>
          <a:xfrm rot="10800000" flipV="1">
            <a:off x="6006083" y="4341434"/>
            <a:ext cx="484632" cy="84941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042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Teknik yaklaşım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1581912" y="2433099"/>
            <a:ext cx="4612154" cy="40710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smtClean="0"/>
              <a:t>2. </a:t>
            </a:r>
            <a:r>
              <a:rPr lang="tr-TR" b="1" dirty="0" err="1" smtClean="0"/>
              <a:t>Masking</a:t>
            </a:r>
            <a:endParaRPr lang="tr-TR" b="1" dirty="0" smtClean="0"/>
          </a:p>
          <a:p>
            <a:r>
              <a:rPr lang="tr-TR" dirty="0"/>
              <a:t>Gömülmüş yamaların bir kısmı (%90 optimaldir) yerine koymaksızın rastgele </a:t>
            </a:r>
            <a:r>
              <a:rPr lang="tr-TR" dirty="0" smtClean="0"/>
              <a:t>örneklenir.</a:t>
            </a:r>
          </a:p>
          <a:p>
            <a:r>
              <a:rPr lang="tr-TR" dirty="0"/>
              <a:t>Makale, maskeleme stratejisi için uzay-zamandan bağımsız (</a:t>
            </a:r>
            <a:r>
              <a:rPr lang="tr-TR" dirty="0" err="1"/>
              <a:t>agnostic</a:t>
            </a:r>
            <a:r>
              <a:rPr lang="tr-TR" dirty="0"/>
              <a:t>) rastgele örneklemenin en iyi sonucu verdiğini </a:t>
            </a:r>
            <a:r>
              <a:rPr lang="tr-TR" dirty="0" smtClean="0"/>
              <a:t>gösterir.</a:t>
            </a:r>
          </a:p>
          <a:p>
            <a:r>
              <a:rPr lang="tr-TR" dirty="0"/>
              <a:t>Optimal maskeleme oranı %90 olarak bulunur, bu oran görüntü </a:t>
            </a:r>
            <a:r>
              <a:rPr lang="tr-TR" dirty="0" err="1"/>
              <a:t>MAE'sindeki</a:t>
            </a:r>
            <a:r>
              <a:rPr lang="tr-TR" dirty="0"/>
              <a:t> %75'ten daha yüksektir. Bu, video verilerinin daha fazla bilgi </a:t>
            </a:r>
            <a:r>
              <a:rPr lang="tr-TR" dirty="0" err="1"/>
              <a:t>yedekliliğine</a:t>
            </a:r>
            <a:r>
              <a:rPr lang="tr-TR" dirty="0"/>
              <a:t> sahip olduğu hipotezini destekler</a:t>
            </a:r>
            <a:endParaRPr lang="tr-TR" dirty="0" smtClean="0"/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6" name="İçerik Yer Tutucusu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38888" y="3047656"/>
            <a:ext cx="4270375" cy="228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460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Teknik </a:t>
            </a:r>
            <a:r>
              <a:rPr lang="tr-TR" dirty="0" smtClean="0"/>
              <a:t>yaklaş</a:t>
            </a:r>
            <a:r>
              <a:rPr lang="tr-TR" dirty="0" smtClean="0"/>
              <a:t>ım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1634164" y="2394204"/>
            <a:ext cx="4271771" cy="3101982"/>
          </a:xfrm>
        </p:spPr>
        <p:txBody>
          <a:bodyPr/>
          <a:lstStyle/>
          <a:p>
            <a:pPr marL="0" indent="0">
              <a:buNone/>
            </a:pPr>
            <a:r>
              <a:rPr lang="tr-TR" b="1" dirty="0" smtClean="0"/>
              <a:t>3. </a:t>
            </a:r>
            <a:r>
              <a:rPr lang="tr-TR" b="1" dirty="0" err="1" smtClean="0"/>
              <a:t>Autoencoding</a:t>
            </a:r>
            <a:endParaRPr lang="tr-TR" b="1" dirty="0" smtClean="0"/>
          </a:p>
          <a:p>
            <a:pPr marL="0" indent="0">
              <a:buNone/>
            </a:pPr>
            <a:r>
              <a:rPr lang="tr-TR" b="1" dirty="0" smtClean="0"/>
              <a:t>3.1. Encoder </a:t>
            </a:r>
            <a:r>
              <a:rPr lang="tr-TR" b="1" dirty="0"/>
              <a:t>(Kodlayıcı): </a:t>
            </a:r>
            <a:r>
              <a:rPr lang="tr-TR" dirty="0"/>
              <a:t>Görüntü </a:t>
            </a:r>
            <a:r>
              <a:rPr lang="tr-TR" dirty="0" err="1"/>
              <a:t>MAE'sindeki</a:t>
            </a:r>
            <a:r>
              <a:rPr lang="tr-TR" dirty="0"/>
              <a:t> gibi, yalnızca görünür yamalar üzerinde çalışan bir </a:t>
            </a:r>
            <a:r>
              <a:rPr lang="tr-TR" dirty="0" err="1"/>
              <a:t>Vanilla</a:t>
            </a:r>
            <a:r>
              <a:rPr lang="tr-TR" dirty="0"/>
              <a:t> </a:t>
            </a:r>
            <a:r>
              <a:rPr lang="tr-TR" dirty="0" err="1"/>
              <a:t>Vision</a:t>
            </a:r>
            <a:r>
              <a:rPr lang="tr-TR" dirty="0"/>
              <a:t> </a:t>
            </a:r>
            <a:r>
              <a:rPr lang="tr-TR" dirty="0" err="1"/>
              <a:t>Transformer</a:t>
            </a:r>
            <a:r>
              <a:rPr lang="tr-TR" dirty="0"/>
              <a:t> (</a:t>
            </a:r>
            <a:r>
              <a:rPr lang="tr-TR" dirty="0" err="1"/>
              <a:t>ViT</a:t>
            </a:r>
            <a:r>
              <a:rPr lang="tr-TR" dirty="0"/>
              <a:t>) </a:t>
            </a:r>
            <a:r>
              <a:rPr lang="tr-TR" dirty="0" smtClean="0"/>
              <a:t>kullanılır. </a:t>
            </a:r>
            <a:r>
              <a:rPr lang="tr-TR" dirty="0"/>
              <a:t>Bu, %90 maskeleme oranıyla kodlayıcı karmaşıklığını </a:t>
            </a:r>
            <a:r>
              <a:rPr lang="tr-TR" dirty="0" smtClean="0"/>
              <a:t>&lt;1/10 </a:t>
            </a:r>
            <a:r>
              <a:rPr lang="tr-TR" dirty="0"/>
              <a:t>oranında </a:t>
            </a:r>
            <a:r>
              <a:rPr lang="tr-TR" dirty="0" smtClean="0"/>
              <a:t>azaltır.</a:t>
            </a:r>
            <a:endParaRPr lang="tr-TR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329606" y="2394204"/>
            <a:ext cx="4270247" cy="3101982"/>
          </a:xfrm>
        </p:spPr>
        <p:txBody>
          <a:bodyPr/>
          <a:lstStyle/>
          <a:p>
            <a:pPr marL="0" indent="0">
              <a:buNone/>
            </a:pPr>
            <a:r>
              <a:rPr lang="tr-TR" b="1" dirty="0" smtClean="0"/>
              <a:t>3.2. </a:t>
            </a:r>
            <a:r>
              <a:rPr lang="tr-TR" b="1" dirty="0" err="1" smtClean="0"/>
              <a:t>Decoder</a:t>
            </a:r>
            <a:r>
              <a:rPr lang="tr-TR" b="1" dirty="0" smtClean="0"/>
              <a:t> </a:t>
            </a:r>
            <a:r>
              <a:rPr lang="tr-TR" b="1" dirty="0"/>
              <a:t>(Kod Çözücü): </a:t>
            </a:r>
            <a:r>
              <a:rPr lang="tr-TR" dirty="0"/>
              <a:t>Kodlanmış yama kümesi ile maske </a:t>
            </a:r>
            <a:r>
              <a:rPr lang="tr-TR" dirty="0" err="1"/>
              <a:t>tokenlerinin</a:t>
            </a:r>
            <a:r>
              <a:rPr lang="tr-TR" dirty="0"/>
              <a:t> birleşimi üzerinde çalışan daha küçük bir </a:t>
            </a:r>
            <a:r>
              <a:rPr lang="tr-TR" dirty="0" err="1"/>
              <a:t>Vanilla</a:t>
            </a:r>
            <a:r>
              <a:rPr lang="tr-TR" dirty="0"/>
              <a:t> </a:t>
            </a:r>
            <a:r>
              <a:rPr lang="tr-TR" dirty="0" err="1"/>
              <a:t>ViT</a:t>
            </a:r>
            <a:r>
              <a:rPr lang="tr-TR" dirty="0"/>
              <a:t> kullanılır. Kod çözücü, orijinal pikselleri veya yama başına normalleştirilmiş değerleri tahmin eder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r>
              <a:rPr lang="tr-TR" b="1" dirty="0" smtClean="0"/>
              <a:t>3.3. Kayıp </a:t>
            </a:r>
            <a:r>
              <a:rPr lang="tr-TR" b="1" dirty="0"/>
              <a:t>Fonksiyonu:</a:t>
            </a:r>
            <a:r>
              <a:rPr lang="tr-TR" dirty="0"/>
              <a:t> Tahmin edilen ve hedef değerler arasındaki ortalama </a:t>
            </a:r>
            <a:r>
              <a:rPr lang="tr-TR" dirty="0" err="1"/>
              <a:t>karesel</a:t>
            </a:r>
            <a:r>
              <a:rPr lang="tr-TR" dirty="0"/>
              <a:t> hata (MSE) kullanılır.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198" y="4655248"/>
            <a:ext cx="4180791" cy="183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435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Teknik yaklaşım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1407382" y="2282024"/>
            <a:ext cx="4446302" cy="4190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r-TR" dirty="0" smtClean="0"/>
              <a:t>Diğer modellere göre katkısı nedir?</a:t>
            </a:r>
          </a:p>
          <a:p>
            <a:pPr marL="0" indent="0">
              <a:buNone/>
            </a:pPr>
            <a:r>
              <a:rPr lang="tr-TR" i="1" dirty="0" smtClean="0"/>
              <a:t>1. Birleşik ve Basit Metodoloji </a:t>
            </a:r>
          </a:p>
          <a:p>
            <a:r>
              <a:rPr lang="tr-TR" dirty="0"/>
              <a:t>BERT (dil) ve MAE (görüntü) ile uyumlu, uzay-zamandan büyük ölçüde bağımsız tek bir </a:t>
            </a:r>
            <a:r>
              <a:rPr lang="tr-TR" dirty="0" err="1"/>
              <a:t>framework</a:t>
            </a:r>
            <a:r>
              <a:rPr lang="tr-TR" dirty="0"/>
              <a:t> sunar</a:t>
            </a:r>
            <a:r>
              <a:rPr lang="tr-TR" dirty="0" smtClean="0"/>
              <a:t>.</a:t>
            </a:r>
          </a:p>
          <a:p>
            <a:r>
              <a:rPr lang="tr-TR" dirty="0" smtClean="0"/>
              <a:t>Öncü </a:t>
            </a:r>
            <a:r>
              <a:rPr lang="tr-TR" dirty="0"/>
              <a:t>mimarilerdeki gibi hiyerarşi veya uzay-zaman ayrıştırması içermez. Yalnızca </a:t>
            </a:r>
            <a:r>
              <a:rPr lang="tr-TR" dirty="0" err="1"/>
              <a:t>ViT</a:t>
            </a:r>
            <a:r>
              <a:rPr lang="tr-TR" dirty="0"/>
              <a:t> mimarisini kullanır</a:t>
            </a:r>
            <a:r>
              <a:rPr lang="tr-TR" dirty="0" smtClean="0"/>
              <a:t>.</a:t>
            </a:r>
          </a:p>
          <a:p>
            <a:r>
              <a:rPr lang="tr-TR" dirty="0" smtClean="0"/>
              <a:t>Ekstra </a:t>
            </a:r>
            <a:r>
              <a:rPr lang="tr-TR" dirty="0"/>
              <a:t>veri veya alan bilgisine dayalı bir </a:t>
            </a:r>
            <a:r>
              <a:rPr lang="tr-TR" dirty="0" err="1"/>
              <a:t>tokenlayıcı</a:t>
            </a:r>
            <a:r>
              <a:rPr lang="tr-TR" dirty="0"/>
              <a:t> (örneğin </a:t>
            </a:r>
            <a:r>
              <a:rPr lang="tr-TR" dirty="0" err="1"/>
              <a:t>dVAE</a:t>
            </a:r>
            <a:r>
              <a:rPr lang="tr-TR" dirty="0"/>
              <a:t> veya HOG ) gerektirmeden, piksel tabanlı rekonstrüksiyon kullanır</a:t>
            </a:r>
            <a:r>
              <a:rPr lang="tr-TR" dirty="0" smtClean="0"/>
              <a:t>.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8163" y="2282024"/>
            <a:ext cx="4430399" cy="4190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r-TR" i="1" dirty="0" smtClean="0"/>
              <a:t>2. Üstün Performans ve Verimlilik</a:t>
            </a:r>
          </a:p>
          <a:p>
            <a:r>
              <a:rPr lang="tr-TR" dirty="0"/>
              <a:t>Optimal %90 Maskeleme Oranı: Video verisinin yüksek bilgi </a:t>
            </a:r>
            <a:r>
              <a:rPr lang="tr-TR" dirty="0" err="1"/>
              <a:t>yedekliliğinden</a:t>
            </a:r>
            <a:r>
              <a:rPr lang="tr-TR" dirty="0"/>
              <a:t> dolayı görüntü </a:t>
            </a:r>
            <a:r>
              <a:rPr lang="tr-TR" dirty="0" err="1"/>
              <a:t>MAE'sinden</a:t>
            </a:r>
            <a:r>
              <a:rPr lang="tr-TR" dirty="0"/>
              <a:t> (%75) daha yüksek bir maskeleme oranı kullanır</a:t>
            </a:r>
            <a:r>
              <a:rPr lang="tr-TR" dirty="0" smtClean="0"/>
              <a:t>.</a:t>
            </a:r>
          </a:p>
          <a:p>
            <a:r>
              <a:rPr lang="tr-TR" dirty="0" smtClean="0"/>
              <a:t>Büyük </a:t>
            </a:r>
            <a:r>
              <a:rPr lang="tr-TR" dirty="0"/>
              <a:t>Hız Kazanımı: Seyrek kodlayıcı tasarımı (%90 maskeleme) sayesinde </a:t>
            </a:r>
            <a:r>
              <a:rPr lang="tr-TR" dirty="0" err="1"/>
              <a:t>FLOPs'ı</a:t>
            </a:r>
            <a:r>
              <a:rPr lang="tr-TR" dirty="0"/>
              <a:t> 7.7 kat azaltır ve duvar saati süresinde 4.1 kat hızlanma sağlar. Bu, video araştırmaları için büyük ölçekli ve zaman alıcı süreçte önemlidir</a:t>
            </a:r>
            <a:r>
              <a:rPr lang="tr-TR" dirty="0" smtClean="0"/>
              <a:t>.</a:t>
            </a:r>
          </a:p>
          <a:p>
            <a:r>
              <a:rPr lang="tr-TR" dirty="0" err="1" smtClean="0"/>
              <a:t>Supervize</a:t>
            </a:r>
            <a:r>
              <a:rPr lang="tr-TR" dirty="0" smtClean="0"/>
              <a:t> </a:t>
            </a:r>
            <a:r>
              <a:rPr lang="tr-TR" dirty="0"/>
              <a:t>Eğitimi Geride Bırakır: Kinetics-400'de, MAE ön eğitimi </a:t>
            </a:r>
            <a:r>
              <a:rPr lang="tr-TR" dirty="0" err="1"/>
              <a:t>ViT</a:t>
            </a:r>
            <a:r>
              <a:rPr lang="tr-TR" dirty="0"/>
              <a:t>-L'nin doğruluğunu eğitimsiz (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scratch</a:t>
            </a:r>
            <a:r>
              <a:rPr lang="tr-TR" dirty="0"/>
              <a:t>) duruma göre mutlak %13.0 artırır. </a:t>
            </a:r>
            <a:r>
              <a:rPr lang="tr-TR" dirty="0" err="1"/>
              <a:t>Supervize</a:t>
            </a:r>
            <a:r>
              <a:rPr lang="tr-TR" dirty="0"/>
              <a:t> ön eğitimden de büyük farklarla daha iyi performans gösterir.</a:t>
            </a:r>
          </a:p>
        </p:txBody>
      </p:sp>
    </p:spTree>
    <p:extLst>
      <p:ext uri="{BB962C8B-B14F-4D97-AF65-F5344CB8AC3E}">
        <p14:creationId xmlns:p14="http://schemas.microsoft.com/office/powerpoint/2010/main" val="3460033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Görevler ve Veri Setleri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r-TR" b="1" dirty="0"/>
              <a:t>Ön Eğitim Veri Setleri</a:t>
            </a:r>
            <a:r>
              <a:rPr lang="tr-TR" b="1" dirty="0" smtClean="0"/>
              <a:t>:</a:t>
            </a:r>
          </a:p>
          <a:p>
            <a:r>
              <a:rPr lang="tr-TR" dirty="0" err="1" smtClean="0"/>
              <a:t>Kinetics</a:t>
            </a:r>
            <a:r>
              <a:rPr lang="tr-TR" dirty="0" smtClean="0"/>
              <a:t> </a:t>
            </a:r>
            <a:r>
              <a:rPr lang="tr-TR" dirty="0"/>
              <a:t>(K400, K600, K700): İnsan eylemi tanıma için standart, büyük ölçekli ve küratörlü veri kümeleridir. K400 (240k video) temel ön eğitim ve ince ayar için kullanılır</a:t>
            </a:r>
            <a:r>
              <a:rPr lang="tr-TR" dirty="0" smtClean="0"/>
              <a:t>.</a:t>
            </a:r>
          </a:p>
          <a:p>
            <a:r>
              <a:rPr lang="tr-TR" dirty="0" smtClean="0"/>
              <a:t>ImageNet-1K </a:t>
            </a:r>
            <a:r>
              <a:rPr lang="tr-TR" dirty="0"/>
              <a:t>(INIK): Görüntü tabanlı ön eğitim karşılaştırması için kullanılır</a:t>
            </a:r>
            <a:r>
              <a:rPr lang="tr-TR" dirty="0" smtClean="0"/>
              <a:t>.</a:t>
            </a:r>
          </a:p>
          <a:p>
            <a:r>
              <a:rPr lang="tr-TR" dirty="0" smtClean="0"/>
              <a:t>IG-</a:t>
            </a:r>
            <a:r>
              <a:rPr lang="tr-TR" dirty="0" err="1" smtClean="0"/>
              <a:t>uncurated</a:t>
            </a:r>
            <a:r>
              <a:rPr lang="tr-TR" dirty="0" smtClean="0"/>
              <a:t> </a:t>
            </a:r>
            <a:r>
              <a:rPr lang="tr-TR" dirty="0"/>
              <a:t>(</a:t>
            </a:r>
            <a:r>
              <a:rPr lang="tr-TR" dirty="0" err="1"/>
              <a:t>Instagram-uncurated</a:t>
            </a:r>
            <a:r>
              <a:rPr lang="tr-TR" dirty="0"/>
              <a:t>): Gerçek dünya, rastgele ve </a:t>
            </a:r>
            <a:r>
              <a:rPr lang="tr-TR" dirty="0" err="1"/>
              <a:t>küratörsüz</a:t>
            </a:r>
            <a:r>
              <a:rPr lang="tr-TR" dirty="0"/>
              <a:t> 1M </a:t>
            </a:r>
            <a:r>
              <a:rPr lang="tr-TR" dirty="0" err="1"/>
              <a:t>Instagram</a:t>
            </a:r>
            <a:r>
              <a:rPr lang="tr-TR" dirty="0"/>
              <a:t> videosu üzerinde ön eğitimin etkinliğini test etmek için kullanılır.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r-TR" b="1" dirty="0" err="1"/>
              <a:t>Downstream</a:t>
            </a:r>
            <a:r>
              <a:rPr lang="tr-TR" b="1" dirty="0"/>
              <a:t> (Akış Aşağı) Değerlendirme Görevleri</a:t>
            </a:r>
            <a:r>
              <a:rPr lang="tr-TR" b="1" dirty="0" smtClean="0"/>
              <a:t>:</a:t>
            </a:r>
          </a:p>
          <a:p>
            <a:r>
              <a:rPr lang="tr-TR" dirty="0" smtClean="0"/>
              <a:t>Kinetics-400 </a:t>
            </a:r>
            <a:r>
              <a:rPr lang="tr-TR" dirty="0"/>
              <a:t>(K400): Ana video sınıflandırma görevi</a:t>
            </a:r>
            <a:r>
              <a:rPr lang="tr-TR" dirty="0" smtClean="0"/>
              <a:t>.</a:t>
            </a:r>
          </a:p>
          <a:p>
            <a:r>
              <a:rPr lang="tr-TR" dirty="0" smtClean="0"/>
              <a:t>AVA</a:t>
            </a:r>
            <a:r>
              <a:rPr lang="tr-TR" dirty="0"/>
              <a:t>: </a:t>
            </a:r>
            <a:r>
              <a:rPr lang="tr-TR" dirty="0" err="1"/>
              <a:t>Spatiotemporal</a:t>
            </a:r>
            <a:r>
              <a:rPr lang="tr-TR" dirty="0"/>
              <a:t> (uzay-zamansal) eylem lokalizasyonu görevi</a:t>
            </a:r>
            <a:r>
              <a:rPr lang="tr-TR" dirty="0" smtClean="0"/>
              <a:t>.</a:t>
            </a:r>
          </a:p>
          <a:p>
            <a:r>
              <a:rPr lang="tr-TR" dirty="0" err="1" smtClean="0"/>
              <a:t>Something</a:t>
            </a:r>
            <a:r>
              <a:rPr lang="tr-TR" dirty="0" smtClean="0"/>
              <a:t> </a:t>
            </a:r>
            <a:r>
              <a:rPr lang="tr-TR" dirty="0" err="1"/>
              <a:t>Something</a:t>
            </a:r>
            <a:r>
              <a:rPr lang="tr-TR" dirty="0"/>
              <a:t> v2 (SSv2): İnsan-nesne etkileşimlerine odaklanan ve hareket bağımlı bir görevdir.</a:t>
            </a:r>
          </a:p>
        </p:txBody>
      </p:sp>
    </p:spTree>
    <p:extLst>
      <p:ext uri="{BB962C8B-B14F-4D97-AF65-F5344CB8AC3E}">
        <p14:creationId xmlns:p14="http://schemas.microsoft.com/office/powerpoint/2010/main" val="1971972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Görevler ve veri setleri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457956"/>
          </a:xfrm>
        </p:spPr>
        <p:txBody>
          <a:bodyPr/>
          <a:lstStyle/>
          <a:p>
            <a:pPr marL="0" indent="0">
              <a:buNone/>
            </a:pPr>
            <a:r>
              <a:rPr lang="tr-TR" b="1" dirty="0" smtClean="0"/>
              <a:t>Model ve Eğitim </a:t>
            </a:r>
            <a:r>
              <a:rPr lang="tr-TR" b="1" dirty="0" smtClean="0"/>
              <a:t>Detayları:</a:t>
            </a:r>
            <a:endParaRPr lang="tr-TR" b="1" dirty="0" smtClean="0"/>
          </a:p>
          <a:p>
            <a:r>
              <a:rPr lang="tr-TR" dirty="0" smtClean="0"/>
              <a:t>Mimari</a:t>
            </a:r>
            <a:r>
              <a:rPr lang="tr-TR" dirty="0"/>
              <a:t>: Encoder ve </a:t>
            </a:r>
            <a:r>
              <a:rPr lang="tr-TR" dirty="0" err="1"/>
              <a:t>Decoder</a:t>
            </a:r>
            <a:r>
              <a:rPr lang="tr-TR" dirty="0"/>
              <a:t> için </a:t>
            </a:r>
            <a:r>
              <a:rPr lang="tr-TR" dirty="0" err="1"/>
              <a:t>Vanilla</a:t>
            </a:r>
            <a:r>
              <a:rPr lang="tr-TR" dirty="0"/>
              <a:t> </a:t>
            </a:r>
            <a:r>
              <a:rPr lang="tr-TR" dirty="0" err="1"/>
              <a:t>Vision</a:t>
            </a:r>
            <a:r>
              <a:rPr lang="tr-TR" dirty="0"/>
              <a:t> </a:t>
            </a:r>
            <a:r>
              <a:rPr lang="tr-TR" dirty="0" err="1"/>
              <a:t>Transformer</a:t>
            </a:r>
            <a:r>
              <a:rPr lang="tr-TR" dirty="0"/>
              <a:t> (</a:t>
            </a:r>
            <a:r>
              <a:rPr lang="tr-TR" dirty="0" err="1"/>
              <a:t>ViT</a:t>
            </a:r>
            <a:r>
              <a:rPr lang="tr-TR" dirty="0"/>
              <a:t>) mimarisi </a:t>
            </a:r>
            <a:r>
              <a:rPr lang="tr-TR" dirty="0" smtClean="0"/>
              <a:t>kullanılır.</a:t>
            </a:r>
          </a:p>
          <a:p>
            <a:r>
              <a:rPr lang="tr-TR" dirty="0" smtClean="0"/>
              <a:t>Varsayılan </a:t>
            </a:r>
            <a:r>
              <a:rPr lang="tr-TR" dirty="0"/>
              <a:t>Model: </a:t>
            </a:r>
            <a:r>
              <a:rPr lang="tr-TR" dirty="0" err="1"/>
              <a:t>ViT</a:t>
            </a:r>
            <a:r>
              <a:rPr lang="tr-TR" dirty="0"/>
              <a:t>-L (Encoder: 1024-d, 24-blok; </a:t>
            </a:r>
            <a:r>
              <a:rPr lang="tr-TR" dirty="0" err="1"/>
              <a:t>Decoder</a:t>
            </a:r>
            <a:r>
              <a:rPr lang="tr-TR" dirty="0"/>
              <a:t>: 512-d, </a:t>
            </a:r>
            <a:r>
              <a:rPr lang="tr-TR" dirty="0" smtClean="0"/>
              <a:t>4-blok).</a:t>
            </a:r>
          </a:p>
          <a:p>
            <a:r>
              <a:rPr lang="tr-TR" dirty="0" smtClean="0"/>
              <a:t>Girdi </a:t>
            </a:r>
            <a:r>
              <a:rPr lang="tr-TR" dirty="0"/>
              <a:t>Boyutu: </a:t>
            </a:r>
            <a:r>
              <a:rPr lang="tr-TR" dirty="0" smtClean="0"/>
              <a:t>16x224x224</a:t>
            </a:r>
            <a:endParaRPr lang="tr-TR" dirty="0" smtClean="0"/>
          </a:p>
          <a:p>
            <a:r>
              <a:rPr lang="tr-TR" dirty="0" smtClean="0"/>
              <a:t>Maskeleme </a:t>
            </a:r>
            <a:r>
              <a:rPr lang="tr-TR" dirty="0"/>
              <a:t>Oranı (Varsayılan): %</a:t>
            </a:r>
            <a:r>
              <a:rPr lang="tr-TR" dirty="0" smtClean="0"/>
              <a:t>90</a:t>
            </a:r>
          </a:p>
          <a:p>
            <a:r>
              <a:rPr lang="tr-TR" dirty="0" smtClean="0"/>
              <a:t>Rekonstrüksiyon </a:t>
            </a:r>
            <a:r>
              <a:rPr lang="tr-TR" dirty="0"/>
              <a:t>Hedefi: Orijinal pikseller (yama başına normalleştirilmiş</a:t>
            </a:r>
            <a:r>
              <a:rPr lang="tr-TR" dirty="0" smtClean="0"/>
              <a:t>).</a:t>
            </a:r>
          </a:p>
          <a:p>
            <a:r>
              <a:rPr lang="tr-TR" dirty="0" smtClean="0"/>
              <a:t>Verimlilik </a:t>
            </a:r>
            <a:r>
              <a:rPr lang="tr-TR" dirty="0"/>
              <a:t>Tekniği: Veri yükleme darboğazını azaltmak için Tekrarlı Örnekleme (</a:t>
            </a:r>
            <a:r>
              <a:rPr lang="tr-TR" dirty="0" err="1"/>
              <a:t>Repeated</a:t>
            </a:r>
            <a:r>
              <a:rPr lang="tr-TR" dirty="0"/>
              <a:t> </a:t>
            </a:r>
            <a:r>
              <a:rPr lang="tr-TR" dirty="0" err="1"/>
              <a:t>Sampling</a:t>
            </a:r>
            <a:r>
              <a:rPr lang="tr-TR" dirty="0"/>
              <a:t>) </a:t>
            </a:r>
            <a:r>
              <a:rPr lang="tr-TR" dirty="0" smtClean="0"/>
              <a:t>kullanılır.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89129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sonuçları</a:t>
            </a:r>
            <a:endParaRPr lang="tr-TR" dirty="0"/>
          </a:p>
        </p:txBody>
      </p:sp>
      <p:graphicFrame>
        <p:nvGraphicFramePr>
          <p:cNvPr id="4" name="İçerik Yer Tutucus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4169705"/>
              </p:ext>
            </p:extLst>
          </p:nvPr>
        </p:nvGraphicFramePr>
        <p:xfrm>
          <a:off x="248540" y="2982871"/>
          <a:ext cx="6847584" cy="2468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11896">
                  <a:extLst>
                    <a:ext uri="{9D8B030D-6E8A-4147-A177-3AD203B41FA5}">
                      <a16:colId xmlns:a16="http://schemas.microsoft.com/office/drawing/2014/main" val="2099737154"/>
                    </a:ext>
                  </a:extLst>
                </a:gridCol>
                <a:gridCol w="1711896">
                  <a:extLst>
                    <a:ext uri="{9D8B030D-6E8A-4147-A177-3AD203B41FA5}">
                      <a16:colId xmlns:a16="http://schemas.microsoft.com/office/drawing/2014/main" val="3863397928"/>
                    </a:ext>
                  </a:extLst>
                </a:gridCol>
                <a:gridCol w="1711896">
                  <a:extLst>
                    <a:ext uri="{9D8B030D-6E8A-4147-A177-3AD203B41FA5}">
                      <a16:colId xmlns:a16="http://schemas.microsoft.com/office/drawing/2014/main" val="2785761960"/>
                    </a:ext>
                  </a:extLst>
                </a:gridCol>
                <a:gridCol w="1711896">
                  <a:extLst>
                    <a:ext uri="{9D8B030D-6E8A-4147-A177-3AD203B41FA5}">
                      <a16:colId xmlns:a16="http://schemas.microsoft.com/office/drawing/2014/main" val="1839019895"/>
                    </a:ext>
                  </a:extLst>
                </a:gridCol>
              </a:tblGrid>
              <a:tr h="666106">
                <a:tc>
                  <a:txBody>
                    <a:bodyPr/>
                    <a:lstStyle/>
                    <a:p>
                      <a:r>
                        <a:rPr lang="tr-TR" dirty="0" smtClean="0"/>
                        <a:t>Yöntem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Ön Eğitim Süresi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K4000 Doğruluğu (</a:t>
                      </a:r>
                      <a:r>
                        <a:rPr lang="tr-TR" dirty="0" err="1" smtClean="0"/>
                        <a:t>Vit</a:t>
                      </a:r>
                      <a:r>
                        <a:rPr lang="tr-TR" dirty="0" smtClean="0"/>
                        <a:t>-L)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Kazanım (Eğitimsiz Duruma Göre)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872641"/>
                  </a:ext>
                </a:extLst>
              </a:tr>
              <a:tr h="466274">
                <a:tc>
                  <a:txBody>
                    <a:bodyPr/>
                    <a:lstStyle/>
                    <a:p>
                      <a:r>
                        <a:rPr lang="tr-TR" dirty="0" smtClean="0"/>
                        <a:t>Eğitimsiz (</a:t>
                      </a:r>
                      <a:r>
                        <a:rPr lang="tr-TR" dirty="0" err="1" smtClean="0"/>
                        <a:t>Scratch</a:t>
                      </a:r>
                      <a:r>
                        <a:rPr lang="tr-TR" dirty="0" smtClean="0"/>
                        <a:t>)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65.2 saat (400 </a:t>
                      </a:r>
                      <a:r>
                        <a:rPr lang="tr-TR" dirty="0" err="1" smtClean="0"/>
                        <a:t>epok</a:t>
                      </a:r>
                      <a:r>
                        <a:rPr lang="tr-TR" dirty="0" smtClean="0"/>
                        <a:t>) 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71.4%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---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366224"/>
                  </a:ext>
                </a:extLst>
              </a:tr>
              <a:tr h="466274">
                <a:tc>
                  <a:txBody>
                    <a:bodyPr/>
                    <a:lstStyle/>
                    <a:p>
                      <a:r>
                        <a:rPr lang="tr-TR" dirty="0" smtClean="0"/>
                        <a:t>MAE Ön Eğitimi 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35.8 saat</a:t>
                      </a:r>
                      <a:r>
                        <a:rPr lang="tr-TR" baseline="0" dirty="0" smtClean="0"/>
                        <a:t> (800 </a:t>
                      </a:r>
                      <a:r>
                        <a:rPr lang="tr-TR" baseline="0" dirty="0" err="1" smtClean="0"/>
                        <a:t>epok</a:t>
                      </a:r>
                      <a:r>
                        <a:rPr lang="tr-TR" baseline="0" dirty="0" smtClean="0"/>
                        <a:t>)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1" dirty="0" smtClean="0"/>
                        <a:t>84.4%</a:t>
                      </a:r>
                      <a:endParaRPr lang="tr-T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1" dirty="0" smtClean="0"/>
                        <a:t>+13.0%</a:t>
                      </a:r>
                      <a:r>
                        <a:rPr lang="tr-TR" dirty="0" smtClean="0"/>
                        <a:t> (mutlak)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784399"/>
                  </a:ext>
                </a:extLst>
              </a:tr>
            </a:tbl>
          </a:graphicData>
        </a:graphic>
      </p:graphicFrame>
      <p:sp>
        <p:nvSpPr>
          <p:cNvPr id="5" name="Dikdörtgen 4"/>
          <p:cNvSpPr/>
          <p:nvPr/>
        </p:nvSpPr>
        <p:spPr>
          <a:xfrm>
            <a:off x="2230438" y="5639485"/>
            <a:ext cx="77304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MAE ön eğitimi, </a:t>
            </a:r>
            <a:r>
              <a:rPr lang="tr-TR" b="1" dirty="0"/>
              <a:t>eğitimsiz (</a:t>
            </a:r>
            <a:r>
              <a:rPr lang="tr-TR" b="1" dirty="0" err="1"/>
              <a:t>scratch</a:t>
            </a:r>
            <a:r>
              <a:rPr lang="tr-TR" b="1" dirty="0"/>
              <a:t>)</a:t>
            </a:r>
            <a:r>
              <a:rPr lang="tr-TR" dirty="0"/>
              <a:t> eğitime kıyasla çok daha yüksek doğruluk ve hız kazanımı sağlar.</a:t>
            </a:r>
          </a:p>
        </p:txBody>
      </p:sp>
      <p:sp>
        <p:nvSpPr>
          <p:cNvPr id="6" name="Dikdörtgen 5"/>
          <p:cNvSpPr/>
          <p:nvPr/>
        </p:nvSpPr>
        <p:spPr>
          <a:xfrm>
            <a:off x="247842" y="2513275"/>
            <a:ext cx="46518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/>
              <a:t>Performans Karşılaştırması (Kinetics-400)</a:t>
            </a: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1489" y="2982871"/>
            <a:ext cx="4336161" cy="214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328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sonuçları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1581912" y="2638043"/>
            <a:ext cx="4271771" cy="3829431"/>
          </a:xfrm>
        </p:spPr>
        <p:txBody>
          <a:bodyPr/>
          <a:lstStyle/>
          <a:p>
            <a:pPr marL="0" indent="0">
              <a:buNone/>
            </a:pPr>
            <a:r>
              <a:rPr lang="tr-TR" sz="2000" b="1" dirty="0"/>
              <a:t>Verimlilik ve Hızlanma</a:t>
            </a:r>
          </a:p>
          <a:p>
            <a:r>
              <a:rPr lang="tr-TR" sz="2000" dirty="0"/>
              <a:t>%90 maskeleme oranıyla, </a:t>
            </a:r>
            <a:r>
              <a:rPr lang="tr-TR" sz="2000" dirty="0" err="1"/>
              <a:t>MAE'nin</a:t>
            </a:r>
            <a:r>
              <a:rPr lang="tr-TR" sz="2000" dirty="0"/>
              <a:t> seyrek </a:t>
            </a:r>
            <a:r>
              <a:rPr lang="tr-TR" sz="2000" dirty="0" err="1"/>
              <a:t>encoder</a:t>
            </a:r>
            <a:r>
              <a:rPr lang="tr-TR" sz="2000" dirty="0"/>
              <a:t> tasarımı büyük bir verimlilik sağlar.</a:t>
            </a:r>
          </a:p>
          <a:p>
            <a:r>
              <a:rPr lang="tr-TR" sz="2000" b="1" dirty="0" err="1"/>
              <a:t>FLOPs</a:t>
            </a:r>
            <a:r>
              <a:rPr lang="tr-TR" sz="2000" b="1" dirty="0"/>
              <a:t> Azalması:</a:t>
            </a:r>
            <a:r>
              <a:rPr lang="tr-TR" sz="2000" dirty="0"/>
              <a:t> 7.7 kat.</a:t>
            </a:r>
          </a:p>
          <a:p>
            <a:r>
              <a:rPr lang="tr-TR" sz="2000" b="1" dirty="0"/>
              <a:t>Duvar Saati Hızlanması: </a:t>
            </a:r>
            <a:r>
              <a:rPr lang="tr-TR" sz="2000" dirty="0"/>
              <a:t>4.1 kat. </a:t>
            </a:r>
          </a:p>
          <a:p>
            <a:endParaRPr lang="tr-TR" dirty="0"/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15063" y="3222251"/>
            <a:ext cx="5557837" cy="120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101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sonuçları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1581912" y="3724275"/>
            <a:ext cx="4271771" cy="1171576"/>
          </a:xfrm>
        </p:spPr>
        <p:txBody>
          <a:bodyPr/>
          <a:lstStyle/>
          <a:p>
            <a:r>
              <a:rPr lang="tr-TR" b="1" dirty="0"/>
              <a:t>Gözlem:</a:t>
            </a:r>
            <a:r>
              <a:rPr lang="tr-TR" dirty="0"/>
              <a:t> Uzay-zaman </a:t>
            </a:r>
            <a:r>
              <a:rPr lang="tr-TR" b="1" dirty="0"/>
              <a:t>bağımsız (agnostik) rastgele maskeleme</a:t>
            </a:r>
            <a:r>
              <a:rPr lang="tr-TR" dirty="0"/>
              <a:t> en iyi sonucu verir.</a:t>
            </a:r>
          </a:p>
        </p:txBody>
      </p:sp>
      <p:pic>
        <p:nvPicPr>
          <p:cNvPr id="5" name="İçerik Yer Tutucusu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38888" y="3047656"/>
            <a:ext cx="4270375" cy="228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776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Temel Gözlemler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1609725" y="2381250"/>
            <a:ext cx="4243958" cy="4171950"/>
          </a:xfrm>
        </p:spPr>
        <p:txBody>
          <a:bodyPr/>
          <a:lstStyle/>
          <a:p>
            <a:r>
              <a:rPr lang="tr-TR" b="1" dirty="0"/>
              <a:t>Optimal Maskeleme Oranı %90: </a:t>
            </a:r>
            <a:r>
              <a:rPr lang="tr-TR" dirty="0"/>
              <a:t>Optimal maskeleme oranı videolarda %90 olarak bulunur, bu oran görüntü </a:t>
            </a:r>
            <a:r>
              <a:rPr lang="tr-TR" dirty="0" err="1"/>
              <a:t>MAE'sindeki</a:t>
            </a:r>
            <a:r>
              <a:rPr lang="tr-TR" dirty="0"/>
              <a:t> %75'ten daha yüksektir. Bu, doğal video verisinin daha fazla bilgi </a:t>
            </a:r>
            <a:r>
              <a:rPr lang="tr-TR" dirty="0" err="1"/>
              <a:t>yedekliliğine</a:t>
            </a:r>
            <a:r>
              <a:rPr lang="tr-TR" dirty="0"/>
              <a:t> sahip olduğu hipotezini destekler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Basitlik </a:t>
            </a:r>
            <a:r>
              <a:rPr lang="tr-TR" b="1" dirty="0"/>
              <a:t>Kazanır: </a:t>
            </a:r>
            <a:r>
              <a:rPr lang="tr-TR" dirty="0" err="1"/>
              <a:t>Spatiotemporal</a:t>
            </a:r>
            <a:r>
              <a:rPr lang="tr-TR" dirty="0"/>
              <a:t>-agnostik (uzay-zamandan bağımsız) rastgele maskeleme stratejisi, yapıya duyarlı maskeleme stratejilerinden daha iyi performans gösterir.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338315" y="2381250"/>
            <a:ext cx="4310635" cy="4171950"/>
          </a:xfrm>
        </p:spPr>
        <p:txBody>
          <a:bodyPr/>
          <a:lstStyle/>
          <a:p>
            <a:r>
              <a:rPr lang="tr-TR" b="1" dirty="0"/>
              <a:t>Transfer Öğrenme </a:t>
            </a:r>
            <a:r>
              <a:rPr lang="tr-TR" b="1" dirty="0" smtClean="0"/>
              <a:t>Gücü:</a:t>
            </a:r>
            <a:r>
              <a:rPr lang="tr-TR" dirty="0" smtClean="0"/>
              <a:t> </a:t>
            </a:r>
            <a:r>
              <a:rPr lang="tr-TR" dirty="0"/>
              <a:t>MAE ön eğitimi, </a:t>
            </a:r>
            <a:r>
              <a:rPr lang="tr-TR" dirty="0" err="1" smtClean="0"/>
              <a:t>supervize</a:t>
            </a:r>
            <a:r>
              <a:rPr lang="tr-TR" dirty="0" smtClean="0"/>
              <a:t> </a:t>
            </a:r>
            <a:r>
              <a:rPr lang="tr-TR" dirty="0"/>
              <a:t>ön eğitimi büyük farklarla geride bırakır. </a:t>
            </a:r>
            <a:endParaRPr lang="tr-TR" dirty="0" smtClean="0"/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621174"/>
            <a:ext cx="5323580" cy="148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175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güçlü </a:t>
            </a:r>
            <a:r>
              <a:rPr lang="tr-TR" dirty="0" smtClean="0"/>
              <a:t>&amp; zayıf yönleri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1581912" y="2285999"/>
            <a:ext cx="4271771" cy="3905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err="1" smtClean="0"/>
              <a:t>Strengths</a:t>
            </a:r>
            <a:r>
              <a:rPr lang="tr-TR" b="1" dirty="0" smtClean="0"/>
              <a:t> </a:t>
            </a:r>
            <a:r>
              <a:rPr lang="tr-TR" b="1" dirty="0"/>
              <a:t>(Güçlü Yönler)</a:t>
            </a:r>
          </a:p>
          <a:p>
            <a:r>
              <a:rPr lang="tr-TR" dirty="0"/>
              <a:t>Çok </a:t>
            </a:r>
            <a:r>
              <a:rPr lang="tr-TR" b="1" dirty="0"/>
              <a:t>basit</a:t>
            </a:r>
            <a:r>
              <a:rPr lang="tr-TR" dirty="0"/>
              <a:t> mimari → </a:t>
            </a:r>
            <a:r>
              <a:rPr lang="tr-TR" dirty="0" err="1"/>
              <a:t>vanilla</a:t>
            </a:r>
            <a:r>
              <a:rPr lang="tr-TR" dirty="0"/>
              <a:t> </a:t>
            </a:r>
            <a:r>
              <a:rPr lang="tr-TR" dirty="0" err="1"/>
              <a:t>ViT</a:t>
            </a:r>
            <a:endParaRPr lang="tr-TR" dirty="0"/>
          </a:p>
          <a:p>
            <a:r>
              <a:rPr lang="tr-TR" dirty="0"/>
              <a:t>Çok </a:t>
            </a:r>
            <a:r>
              <a:rPr lang="tr-TR" b="1" dirty="0"/>
              <a:t>hızlı</a:t>
            </a:r>
            <a:r>
              <a:rPr lang="tr-TR" dirty="0"/>
              <a:t> (7.7× daha ucuz)</a:t>
            </a:r>
          </a:p>
          <a:p>
            <a:r>
              <a:rPr lang="tr-TR" dirty="0"/>
              <a:t>Çok </a:t>
            </a:r>
            <a:r>
              <a:rPr lang="tr-TR" b="1" dirty="0"/>
              <a:t>verimli</a:t>
            </a:r>
            <a:r>
              <a:rPr lang="tr-TR" dirty="0"/>
              <a:t> (13% </a:t>
            </a:r>
            <a:r>
              <a:rPr lang="tr-TR" dirty="0" err="1"/>
              <a:t>accuracy</a:t>
            </a:r>
            <a:r>
              <a:rPr lang="tr-TR" dirty="0"/>
              <a:t> artışı)</a:t>
            </a:r>
          </a:p>
          <a:p>
            <a:r>
              <a:rPr lang="tr-TR" dirty="0"/>
              <a:t>Domain </a:t>
            </a:r>
            <a:r>
              <a:rPr lang="tr-TR" dirty="0" err="1"/>
              <a:t>knowledge</a:t>
            </a:r>
            <a:r>
              <a:rPr lang="tr-TR" dirty="0"/>
              <a:t> gerektirmiyor</a:t>
            </a:r>
          </a:p>
          <a:p>
            <a:r>
              <a:rPr lang="tr-TR" dirty="0"/>
              <a:t>Gerçek dünya videolarında güçlü performans</a:t>
            </a:r>
          </a:p>
          <a:p>
            <a:r>
              <a:rPr lang="tr-TR" dirty="0"/>
              <a:t>Ortak bir çerçeve: BERT → MAE (</a:t>
            </a:r>
            <a:r>
              <a:rPr lang="tr-TR" dirty="0" err="1"/>
              <a:t>image</a:t>
            </a:r>
            <a:r>
              <a:rPr lang="tr-TR" dirty="0"/>
              <a:t>) → MAE (video)</a:t>
            </a:r>
          </a:p>
          <a:p>
            <a:endParaRPr lang="tr-TR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81725" y="2285999"/>
            <a:ext cx="4426837" cy="4048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err="1"/>
              <a:t>Weaknesses</a:t>
            </a:r>
            <a:r>
              <a:rPr lang="tr-TR" b="1" dirty="0"/>
              <a:t> (</a:t>
            </a:r>
            <a:r>
              <a:rPr lang="tr-TR" b="1" dirty="0" smtClean="0"/>
              <a:t>Zayıf  </a:t>
            </a:r>
            <a:r>
              <a:rPr lang="tr-TR" b="1" dirty="0"/>
              <a:t>Yönler)</a:t>
            </a:r>
          </a:p>
          <a:p>
            <a:r>
              <a:rPr lang="tr-TR" dirty="0" smtClean="0"/>
              <a:t>Yöntem hala </a:t>
            </a:r>
            <a:r>
              <a:rPr lang="tr-TR" dirty="0"/>
              <a:t>yüksek çözünürlüklü videolarda pahalı</a:t>
            </a:r>
          </a:p>
          <a:p>
            <a:r>
              <a:rPr lang="tr-TR" dirty="0" err="1" smtClean="0"/>
              <a:t>Temporal</a:t>
            </a:r>
            <a:r>
              <a:rPr lang="tr-TR" dirty="0" smtClean="0"/>
              <a:t> </a:t>
            </a:r>
            <a:r>
              <a:rPr lang="tr-TR" dirty="0"/>
              <a:t>ilişkileri doğrudan modellemiyor</a:t>
            </a:r>
          </a:p>
          <a:p>
            <a:r>
              <a:rPr lang="tr-TR" dirty="0" err="1"/>
              <a:t>Decoder</a:t>
            </a:r>
            <a:r>
              <a:rPr lang="tr-TR" dirty="0"/>
              <a:t> hala nispeten büyük</a:t>
            </a:r>
          </a:p>
          <a:p>
            <a:r>
              <a:rPr lang="tr-TR" dirty="0" smtClean="0"/>
              <a:t>Gerçek </a:t>
            </a:r>
            <a:r>
              <a:rPr lang="tr-TR" dirty="0"/>
              <a:t>zamanlı uygulamalara adaptasyon sonuçları </a:t>
            </a:r>
            <a:r>
              <a:rPr lang="tr-TR" dirty="0" smtClean="0"/>
              <a:t>verilmemiş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56290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Sonuç &amp; tartışma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28700" y="2638044"/>
            <a:ext cx="9886950" cy="3496056"/>
          </a:xfrm>
        </p:spPr>
        <p:txBody>
          <a:bodyPr/>
          <a:lstStyle/>
          <a:p>
            <a:r>
              <a:rPr lang="tr-TR" dirty="0" err="1"/>
              <a:t>MAE'nin</a:t>
            </a:r>
            <a:r>
              <a:rPr lang="tr-TR" dirty="0"/>
              <a:t> video verilerine basit bir uzantısı olan bu çalışma, minimal </a:t>
            </a:r>
            <a:r>
              <a:rPr lang="tr-TR" dirty="0" err="1"/>
              <a:t>endüktif</a:t>
            </a:r>
            <a:r>
              <a:rPr lang="tr-TR" dirty="0"/>
              <a:t> önyargılarla (sadece yama ve </a:t>
            </a:r>
            <a:r>
              <a:rPr lang="tr-TR" dirty="0" err="1"/>
              <a:t>konumsal</a:t>
            </a:r>
            <a:r>
              <a:rPr lang="tr-TR" dirty="0"/>
              <a:t> gömmeler) video temsillerini öğrenmenin mümkün olduğunu göstermiştir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Optimal </a:t>
            </a:r>
            <a:r>
              <a:rPr lang="tr-TR" dirty="0"/>
              <a:t>%90 maskeleme oranı ve uzay-zamandan bağımsız rastgele maskeleme stratejisinin üstünlüğü, video verisinin doğası hakkında önemli gözlemler sunar</a:t>
            </a:r>
            <a:r>
              <a:rPr lang="tr-TR" dirty="0" smtClean="0"/>
              <a:t>.</a:t>
            </a:r>
          </a:p>
          <a:p>
            <a:r>
              <a:rPr lang="tr-TR" dirty="0" smtClean="0"/>
              <a:t>Elde </a:t>
            </a:r>
            <a:r>
              <a:rPr lang="tr-TR" dirty="0"/>
              <a:t>edilen önemli hızlanma ve </a:t>
            </a:r>
            <a:r>
              <a:rPr lang="tr-TR" dirty="0" err="1"/>
              <a:t>küratörsüz</a:t>
            </a:r>
            <a:r>
              <a:rPr lang="tr-TR" dirty="0"/>
              <a:t> veriler üzerindeki başarılar, </a:t>
            </a:r>
            <a:r>
              <a:rPr lang="tr-TR" dirty="0" err="1"/>
              <a:t>MAE'nin</a:t>
            </a:r>
            <a:r>
              <a:rPr lang="tr-TR" dirty="0"/>
              <a:t> video tanıma alanında pratik ve ölçeklenebilir bir çözüm olduğunu kanıtlar</a:t>
            </a:r>
            <a:r>
              <a:rPr lang="tr-TR" dirty="0" smtClean="0"/>
              <a:t>.</a:t>
            </a:r>
          </a:p>
          <a:p>
            <a:r>
              <a:rPr lang="tr-TR" dirty="0" smtClean="0"/>
              <a:t>Tartışma </a:t>
            </a:r>
            <a:r>
              <a:rPr lang="tr-TR" dirty="0"/>
              <a:t>Noktası: Makale, keşfettikleri veri ölçeğinin dil muadillerinden çok daha küçük olduğunu kabul etmektedir. Yöntem verimliliği artırsa da, yüksek boyutlu video verileri nedeniyle ölçeklendirmenin hala büyük bir zorluk teşkil ettiğini belirtir.</a:t>
            </a:r>
          </a:p>
        </p:txBody>
      </p:sp>
    </p:spTree>
    <p:extLst>
      <p:ext uri="{BB962C8B-B14F-4D97-AF65-F5344CB8AC3E}">
        <p14:creationId xmlns:p14="http://schemas.microsoft.com/office/powerpoint/2010/main" val="3631319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referanslar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Makalede kullanılan temel referanslar</a:t>
            </a:r>
            <a:r>
              <a:rPr lang="tr-TR" dirty="0" smtClean="0"/>
              <a:t>:</a:t>
            </a:r>
          </a:p>
          <a:p>
            <a:r>
              <a:rPr lang="tr-TR" dirty="0" smtClean="0"/>
              <a:t>BERT</a:t>
            </a:r>
          </a:p>
          <a:p>
            <a:r>
              <a:rPr lang="tr-TR" dirty="0" smtClean="0"/>
              <a:t> </a:t>
            </a:r>
            <a:r>
              <a:rPr lang="tr-TR" dirty="0" err="1"/>
              <a:t>ViT</a:t>
            </a:r>
            <a:r>
              <a:rPr lang="tr-TR" dirty="0"/>
              <a:t> </a:t>
            </a:r>
            <a:endParaRPr lang="tr-TR" dirty="0" smtClean="0"/>
          </a:p>
          <a:p>
            <a:r>
              <a:rPr lang="tr-TR" dirty="0" smtClean="0"/>
              <a:t>MAE </a:t>
            </a:r>
          </a:p>
          <a:p>
            <a:r>
              <a:rPr lang="tr-TR" dirty="0" err="1" smtClean="0"/>
              <a:t>Kinetics</a:t>
            </a:r>
            <a:endParaRPr lang="tr-TR" dirty="0" smtClean="0"/>
          </a:p>
          <a:p>
            <a:r>
              <a:rPr lang="tr-TR" dirty="0" smtClean="0"/>
              <a:t> </a:t>
            </a:r>
            <a:r>
              <a:rPr lang="tr-TR" dirty="0" err="1"/>
              <a:t>Instagram</a:t>
            </a:r>
            <a:r>
              <a:rPr lang="tr-TR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77937554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TM10001115[[fn=Paket]]</Template>
  <TotalTime>845</TotalTime>
  <Words>1375</Words>
  <Application>Microsoft Office PowerPoint</Application>
  <PresentationFormat>Geniş ekran</PresentationFormat>
  <Paragraphs>150</Paragraphs>
  <Slides>20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4" baseType="lpstr">
      <vt:lpstr>Arial</vt:lpstr>
      <vt:lpstr>Calibri</vt:lpstr>
      <vt:lpstr>Gill Sans MT</vt:lpstr>
      <vt:lpstr>Parcel</vt:lpstr>
      <vt:lpstr>Masked Autoencoders As Spatiotemporal Learners</vt:lpstr>
      <vt:lpstr>Sunum içeriği</vt:lpstr>
      <vt:lpstr>motivasyon</vt:lpstr>
      <vt:lpstr>Problem ifadesi</vt:lpstr>
      <vt:lpstr>İlgili çalışmalar</vt:lpstr>
      <vt:lpstr>1.DenoISIng Autoencoders (DAE) ve Masked AutoencodIng</vt:lpstr>
      <vt:lpstr>2. Self-supervIsed VIdeo LearnIng</vt:lpstr>
      <vt:lpstr>TEKNİK YAKLAŞIM</vt:lpstr>
      <vt:lpstr>Teknik yaklaşım</vt:lpstr>
      <vt:lpstr>Teknik yaklaşım</vt:lpstr>
      <vt:lpstr>Teknik yaklaşım</vt:lpstr>
      <vt:lpstr>Görevler ve Veri Setleri</vt:lpstr>
      <vt:lpstr>Görevler ve veri setleri</vt:lpstr>
      <vt:lpstr>sonuçları</vt:lpstr>
      <vt:lpstr>sonuçları</vt:lpstr>
      <vt:lpstr>sonuçları</vt:lpstr>
      <vt:lpstr>Temel Gözlemler</vt:lpstr>
      <vt:lpstr>güçlü &amp; zayıf yönleri</vt:lpstr>
      <vt:lpstr>Sonuç &amp; tartışma</vt:lpstr>
      <vt:lpstr>referanslar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Autoencoders As Spatiotemporal Learners</dc:title>
  <dc:creator>WINUSER</dc:creator>
  <cp:lastModifiedBy>WINUSER</cp:lastModifiedBy>
  <cp:revision>28</cp:revision>
  <dcterms:created xsi:type="dcterms:W3CDTF">2025-11-14T18:58:56Z</dcterms:created>
  <dcterms:modified xsi:type="dcterms:W3CDTF">2025-11-18T08:09:33Z</dcterms:modified>
</cp:coreProperties>
</file>